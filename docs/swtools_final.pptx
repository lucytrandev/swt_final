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T Ramillas" charset="1" panose="020E0000080000020004"/>
      <p:regular r:id="rId18"/>
    </p:embeddedFont>
    <p:embeddedFont>
      <p:font typeface="TT Interphases" charset="1" panose="02000503020000020004"/>
      <p:regular r:id="rId19"/>
    </p:embeddedFont>
    <p:embeddedFont>
      <p:font typeface="TT Interphases Bold" charset="1" panose="0200080306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25900" y="666750"/>
            <a:ext cx="895350" cy="895350"/>
            <a:chOff x="0" y="0"/>
            <a:chExt cx="1193800" cy="11938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10429875" y="9620250"/>
            <a:ext cx="7191375" cy="0"/>
          </a:xfrm>
          <a:prstGeom prst="line">
            <a:avLst/>
          </a:prstGeom>
          <a:ln cap="flat" w="19050">
            <a:solidFill>
              <a:srgbClr val="2A4D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0" y="0"/>
            <a:ext cx="9296400" cy="10287000"/>
            <a:chOff x="0" y="0"/>
            <a:chExt cx="1440256" cy="1593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0256" cy="1593725"/>
            </a:xfrm>
            <a:custGeom>
              <a:avLst/>
              <a:gdLst/>
              <a:ahLst/>
              <a:cxnLst/>
              <a:rect r="r" b="b" t="t" l="l"/>
              <a:pathLst>
                <a:path h="1593725" w="1440256">
                  <a:moveTo>
                    <a:pt x="0" y="0"/>
                  </a:moveTo>
                  <a:lnTo>
                    <a:pt x="1440256" y="0"/>
                  </a:lnTo>
                  <a:lnTo>
                    <a:pt x="144025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0" t="-66" r="0" b="-6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34675" y="723900"/>
            <a:ext cx="5448300" cy="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</a:pPr>
            <a:r>
              <a:rPr lang="en-US" sz="2799" spc="-55">
                <a:solidFill>
                  <a:srgbClr val="2A4D7A"/>
                </a:solidFill>
                <a:latin typeface="TT Ramillas"/>
                <a:ea typeface="TT Ramillas"/>
                <a:cs typeface="TT Ramillas"/>
                <a:sym typeface="TT Ramillas"/>
              </a:rPr>
              <a:t>Ottawa Titans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734675" y="4972191"/>
            <a:ext cx="6886575" cy="3752709"/>
            <a:chOff x="0" y="0"/>
            <a:chExt cx="9182100" cy="5003612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04775"/>
              <a:ext cx="9182100" cy="3844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600"/>
                </a:lnSpc>
              </a:pPr>
              <a:r>
                <a:rPr lang="en-US" sz="5600" spc="-112">
                  <a:solidFill>
                    <a:srgbClr val="2A4D7A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Smart Resume Analyzer &amp; Job Recommendation System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096197"/>
              <a:ext cx="9182100" cy="907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0"/>
                </a:lnSpc>
                <a:spcBef>
                  <a:spcPct val="0"/>
                </a:spcBef>
              </a:pPr>
              <a:r>
                <a:rPr lang="en-US" sz="2100" spc="105" u="none">
                  <a:solidFill>
                    <a:srgbClr val="4A90E2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TEAM: OTTAWA TITANS | STACK: FASTAPI, STREAMLIT, MONGODB, SPACY, SCIKIT-LEARN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5944937" y="7886787"/>
            <a:ext cx="780877" cy="2571750"/>
          </a:xfrm>
          <a:custGeom>
            <a:avLst/>
            <a:gdLst/>
            <a:ahLst/>
            <a:cxnLst/>
            <a:rect r="r" b="b" t="t" l="l"/>
            <a:pathLst>
              <a:path h="2571750" w="780877">
                <a:moveTo>
                  <a:pt x="0" y="0"/>
                </a:moveTo>
                <a:lnTo>
                  <a:pt x="780876" y="0"/>
                </a:lnTo>
                <a:lnTo>
                  <a:pt x="780876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5516225" cy="2212340"/>
            <a:chOff x="0" y="0"/>
            <a:chExt cx="20688300" cy="294978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0500"/>
              <a:ext cx="206883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2A4D7A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 </a:t>
              </a:r>
              <a:r>
                <a:rPr lang="en-US" sz="9999" spc="-199">
                  <a:solidFill>
                    <a:srgbClr val="2A4D7A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Problem &amp; Impact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49500"/>
              <a:ext cx="206883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>
                  <a:solidFill>
                    <a:srgbClr val="4A90E2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ADDRESSING THE CHALLENGES OF MANUAL SCREENING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5210175"/>
            <a:ext cx="5448300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4A90E2"/>
                </a:solidFill>
                <a:latin typeface="TT Ramillas"/>
                <a:ea typeface="TT Ramillas"/>
                <a:cs typeface="TT Ramillas"/>
                <a:sym typeface="TT Ramillas"/>
              </a:rPr>
              <a:t>Manual Screening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9958" y="6349365"/>
            <a:ext cx="5435092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Recruiters often sift through </a:t>
            </a:r>
            <a:r>
              <a:rPr lang="en-US" b="true" sz="2100">
                <a:solidFill>
                  <a:srgbClr val="2A4D7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thousands of resumes</a:t>
            </a: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which leads to a process that is not only slow but also </a:t>
            </a:r>
            <a:r>
              <a:rPr lang="en-US" b="true" sz="2100">
                <a:solidFill>
                  <a:srgbClr val="2A4D7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inconsistent</a:t>
            </a: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making it difficult to find qualified candidates efficiently.</a:t>
            </a:r>
          </a:p>
        </p:txBody>
      </p:sp>
      <p:sp>
        <p:nvSpPr>
          <p:cNvPr name="AutoShape 8" id="8"/>
          <p:cNvSpPr/>
          <p:nvPr/>
        </p:nvSpPr>
        <p:spPr>
          <a:xfrm>
            <a:off x="679958" y="6048375"/>
            <a:ext cx="5435092" cy="0"/>
          </a:xfrm>
          <a:prstGeom prst="line">
            <a:avLst/>
          </a:prstGeom>
          <a:ln cap="flat" w="19050">
            <a:solidFill>
              <a:srgbClr val="2A4D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858125" y="5210175"/>
            <a:ext cx="5448300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4A90E2"/>
                </a:solidFill>
                <a:latin typeface="TT Ramillas"/>
                <a:ea typeface="TT Ramillas"/>
                <a:cs typeface="TT Ramillas"/>
                <a:sym typeface="TT Ramillas"/>
              </a:rPr>
              <a:t>Bias Risks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71333" y="6349365"/>
            <a:ext cx="5435092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As recruitment scales, the risk of </a:t>
            </a:r>
            <a:r>
              <a:rPr lang="en-US" b="true" sz="2100">
                <a:solidFill>
                  <a:srgbClr val="2A4D7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bias increases</a:t>
            </a: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particularly in manual screening. Unconscious biases can affect hiring decisions, resulting in missed opportunities for strong candidates.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871333" y="6048375"/>
            <a:ext cx="5435092" cy="0"/>
          </a:xfrm>
          <a:prstGeom prst="line">
            <a:avLst/>
          </a:prstGeom>
          <a:ln cap="flat" w="19050">
            <a:solidFill>
              <a:srgbClr val="2A4D7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8324850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2A4D7A"/>
                </a:solidFill>
                <a:latin typeface="TT Ramillas"/>
                <a:ea typeface="TT Ramillas"/>
                <a:cs typeface="TT Ramillas"/>
                <a:sym typeface="TT Ramillas"/>
              </a:rPr>
              <a:t>Objectives of the System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5448300" cy="1594485"/>
            <a:chOff x="0" y="0"/>
            <a:chExt cx="7264400" cy="21259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4A90E2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Resume Parsing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Extract essential entities from uploaded resumes efficiently.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2A4D7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734675" y="3352800"/>
            <a:ext cx="5448300" cy="1594485"/>
            <a:chOff x="0" y="0"/>
            <a:chExt cx="7264400" cy="212598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4A90E2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Resume Scoring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Evaluate resumes against job descriptions for ATS compatibility.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2A4D7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734675" y="6038850"/>
            <a:ext cx="5448300" cy="1594485"/>
            <a:chOff x="0" y="0"/>
            <a:chExt cx="7264400" cy="21259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4A90E2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Candidate Storage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Manage candidates' profiles in a structured MongoDB database.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2A4D7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6750" y="8724900"/>
            <a:ext cx="895350" cy="895350"/>
            <a:chOff x="0" y="0"/>
            <a:chExt cx="1193800" cy="1193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387131"/>
            </a:xfrm>
            <a:custGeom>
              <a:avLst/>
              <a:gdLst/>
              <a:ahLst/>
              <a:cxnLst/>
              <a:rect r="r" b="b" t="t" l="l"/>
              <a:pathLst>
                <a:path h="1387131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-30089" t="0" r="-6908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7573327"/>
            <a:ext cx="5753100" cy="2046923"/>
            <a:chOff x="0" y="0"/>
            <a:chExt cx="7670800" cy="2729230"/>
          </a:xfrm>
        </p:grpSpPr>
        <p:sp>
          <p:nvSpPr>
            <p:cNvPr name="AutoShape 5" id="5"/>
            <p:cNvSpPr/>
            <p:nvPr/>
          </p:nvSpPr>
          <p:spPr>
            <a:xfrm>
              <a:off x="0" y="12700"/>
              <a:ext cx="7264400" cy="0"/>
            </a:xfrm>
            <a:prstGeom prst="line">
              <a:avLst/>
            </a:prstGeom>
            <a:ln cap="flat" w="25400">
              <a:solidFill>
                <a:srgbClr val="2A4D7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76225"/>
              <a:ext cx="7670800" cy="2453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 u="none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 Upload resume (PDF/DOCX, ≤2MB) → Paste JD (≤5000 chars) → Analyze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 u="none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 Show compatibility %, matched/missing skills, role recommendations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 u="none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 Store candidate profile in MongoDB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734675" y="857250"/>
            <a:ext cx="6886575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sz="9999" spc="-199" u="none">
                <a:solidFill>
                  <a:srgbClr val="2A4D7A"/>
                </a:solidFill>
                <a:latin typeface="TT Ramillas"/>
                <a:ea typeface="TT Ramillas"/>
                <a:cs typeface="TT Ramillas"/>
                <a:sym typeface="TT Ramillas"/>
              </a:rPr>
              <a:t>User Flow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953500"/>
            <a:chOff x="0" y="0"/>
            <a:chExt cx="1289737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9737" cy="1387131"/>
            </a:xfrm>
            <a:custGeom>
              <a:avLst/>
              <a:gdLst/>
              <a:ahLst/>
              <a:cxnLst/>
              <a:rect r="r" b="b" t="t" l="l"/>
              <a:pathLst>
                <a:path h="1387131" w="1289737">
                  <a:moveTo>
                    <a:pt x="0" y="0"/>
                  </a:moveTo>
                  <a:lnTo>
                    <a:pt x="1289737" y="0"/>
                  </a:lnTo>
                  <a:lnTo>
                    <a:pt x="1289737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6830377"/>
            <a:ext cx="5753100" cy="2789873"/>
            <a:chOff x="0" y="0"/>
            <a:chExt cx="7670800" cy="3719830"/>
          </a:xfrm>
        </p:grpSpPr>
        <p:sp>
          <p:nvSpPr>
            <p:cNvPr name="AutoShape 5" id="5"/>
            <p:cNvSpPr/>
            <p:nvPr/>
          </p:nvSpPr>
          <p:spPr>
            <a:xfrm>
              <a:off x="0" y="12700"/>
              <a:ext cx="7264400" cy="0"/>
            </a:xfrm>
            <a:prstGeom prst="line">
              <a:avLst/>
            </a:prstGeom>
            <a:ln cap="flat" w="25400">
              <a:solidFill>
                <a:srgbClr val="2A4D7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0" y="276225"/>
              <a:ext cx="7670800" cy="3443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 u="none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Streamlit UI → FastAPI backend → MongoDB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 u="none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 NLP/ML: spaCy for NER, TF-IDF + Cosine Similarity for scoring</a:t>
              </a:r>
            </a:p>
            <a:p>
              <a:pPr algn="l" marL="453390" indent="-226695" lvl="1">
                <a:lnSpc>
                  <a:spcPts val="2940"/>
                </a:lnSpc>
                <a:buFont typeface="Arial"/>
                <a:buChar char="•"/>
              </a:pPr>
              <a:r>
                <a:rPr lang="en-US" sz="2100" u="none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 Seeded role benchmarks (10 common tech roles) for recommendations</a:t>
              </a:r>
            </a:p>
            <a:p>
              <a:pPr algn="l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734675" y="857250"/>
            <a:ext cx="6886575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sz="9999" spc="-199" u="none">
                <a:solidFill>
                  <a:srgbClr val="2A4D7A"/>
                </a:solidFill>
                <a:latin typeface="TT Ramillas"/>
                <a:ea typeface="TT Ramillas"/>
                <a:cs typeface="TT Ramillas"/>
                <a:sym typeface="TT Ramillas"/>
              </a:rPr>
              <a:t>System Architecture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8324850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2A4D7A"/>
                </a:solidFill>
                <a:latin typeface="TT Ramillas"/>
                <a:ea typeface="TT Ramillas"/>
                <a:cs typeface="TT Ramillas"/>
                <a:sym typeface="TT Ramillas"/>
              </a:rPr>
              <a:t>Data Model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5448300" cy="1594485"/>
            <a:chOff x="0" y="0"/>
            <a:chExt cx="7264400" cy="21259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4A90E2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Candidates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Stores essential details like name and skills, name, resume_text, parsed_at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2A4D7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734675" y="3352800"/>
            <a:ext cx="5448300" cy="1223010"/>
            <a:chOff x="0" y="0"/>
            <a:chExt cx="7264400" cy="163068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4A90E2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Jobs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7611" y="1158875"/>
              <a:ext cx="7246789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Contains roles and their ideal skill sets.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2A4D7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734675" y="6038850"/>
            <a:ext cx="5448300" cy="1223010"/>
            <a:chOff x="0" y="0"/>
            <a:chExt cx="7264400" cy="16306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4A90E2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Seed Jobs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611" y="1158875"/>
              <a:ext cx="7246789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Auto-inserts data on application startup.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2A4D7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6750" y="8724900"/>
            <a:ext cx="895350" cy="895350"/>
            <a:chOff x="0" y="0"/>
            <a:chExt cx="1193800" cy="1193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4077950" cy="2212340"/>
            <a:chOff x="0" y="0"/>
            <a:chExt cx="18770600" cy="29497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87706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2A4D7A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ATS Scoring Approach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349500"/>
              <a:ext cx="187706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>
                  <a:solidFill>
                    <a:srgbClr val="4A90E2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 OVERVIEW OF SCORING LOGIC APPLIED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6472" y="4838740"/>
            <a:ext cx="4010025" cy="75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4A90E2"/>
                </a:solidFill>
                <a:latin typeface="TT Ramillas"/>
                <a:ea typeface="TT Ramillas"/>
                <a:cs typeface="TT Ramillas"/>
                <a:sym typeface="TT Ramillas"/>
              </a:rPr>
              <a:t>Hard-skill emphasis + boosting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6472" y="6054129"/>
            <a:ext cx="4000303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Programming languages, tools, cloud/data stack; detected hard skills are injected/weighted before vectorizing.</a:t>
            </a:r>
          </a:p>
        </p:txBody>
      </p:sp>
      <p:sp>
        <p:nvSpPr>
          <p:cNvPr name="AutoShape 7" id="7"/>
          <p:cNvSpPr/>
          <p:nvPr/>
        </p:nvSpPr>
        <p:spPr>
          <a:xfrm>
            <a:off x="666750" y="5846484"/>
            <a:ext cx="4000303" cy="0"/>
          </a:xfrm>
          <a:prstGeom prst="line">
            <a:avLst/>
          </a:prstGeom>
          <a:ln cap="flat" w="19050">
            <a:solidFill>
              <a:srgbClr val="2A4D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429572" y="5210215"/>
            <a:ext cx="4010025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4A90E2"/>
                </a:solidFill>
                <a:latin typeface="TT Ramillas"/>
                <a:ea typeface="TT Ramillas"/>
                <a:cs typeface="TT Ramillas"/>
                <a:sym typeface="TT Ramillas"/>
              </a:rPr>
              <a:t>Normalization + vectors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9572" y="6054129"/>
            <a:ext cx="4000303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Low</a:t>
            </a: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ercase/whitespace cleanup, then TF-IDF on resume/JD; compare with cosine similarity; High Match if score ≥ 0.7.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6419850" y="5846484"/>
            <a:ext cx="4000303" cy="0"/>
          </a:xfrm>
          <a:prstGeom prst="line">
            <a:avLst/>
          </a:prstGeom>
          <a:ln cap="flat" w="19050">
            <a:solidFill>
              <a:srgbClr val="2A4D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182868" y="5210255"/>
            <a:ext cx="4010025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4A90E2"/>
                </a:solidFill>
                <a:latin typeface="TT Ramillas"/>
                <a:ea typeface="TT Ramillas"/>
                <a:cs typeface="TT Ramillas"/>
                <a:sym typeface="TT Ramillas"/>
              </a:rPr>
              <a:t>Tra</a:t>
            </a:r>
            <a:r>
              <a:rPr lang="en-US" sz="2999" spc="-59">
                <a:solidFill>
                  <a:srgbClr val="4A90E2"/>
                </a:solidFill>
                <a:latin typeface="TT Ramillas"/>
                <a:ea typeface="TT Ramillas"/>
                <a:cs typeface="TT Ramillas"/>
                <a:sym typeface="TT Ramillas"/>
              </a:rPr>
              <a:t>nsparency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82868" y="6054169"/>
            <a:ext cx="400030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</a:t>
            </a: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urface matched vs. missing hard skills alongside the score.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2173147" y="5846524"/>
            <a:ext cx="4000303" cy="0"/>
          </a:xfrm>
          <a:prstGeom prst="line">
            <a:avLst/>
          </a:prstGeom>
          <a:ln cap="flat" w="19050">
            <a:solidFill>
              <a:srgbClr val="2A4D7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4077950" cy="2212340"/>
            <a:chOff x="0" y="0"/>
            <a:chExt cx="18770600" cy="29497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90500"/>
              <a:ext cx="187706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2A4D7A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Features &amp; Constraints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349500"/>
              <a:ext cx="187706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>
                  <a:solidFill>
                    <a:srgbClr val="4A90E2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ESSENTIAL CAPABILITIES AND LIMITATIONS OVERVIEW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6472" y="5210215"/>
            <a:ext cx="4010025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4A90E2"/>
                </a:solidFill>
                <a:latin typeface="TT Ramillas"/>
                <a:ea typeface="TT Ramillas"/>
                <a:cs typeface="TT Ramillas"/>
                <a:sym typeface="TT Ramillas"/>
              </a:rPr>
              <a:t>Inputs/limits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6472" y="6054129"/>
            <a:ext cx="4000303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PDF/DOCX parsing (PyPDF2/docx), file size capped at </a:t>
            </a: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2MB;</a:t>
            </a: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JD length capped at 5000 chars (client + server)</a:t>
            </a:r>
          </a:p>
        </p:txBody>
      </p:sp>
      <p:sp>
        <p:nvSpPr>
          <p:cNvPr name="AutoShape 7" id="7"/>
          <p:cNvSpPr/>
          <p:nvPr/>
        </p:nvSpPr>
        <p:spPr>
          <a:xfrm>
            <a:off x="666750" y="5846484"/>
            <a:ext cx="4000303" cy="0"/>
          </a:xfrm>
          <a:prstGeom prst="line">
            <a:avLst/>
          </a:prstGeom>
          <a:ln cap="flat" w="19050">
            <a:solidFill>
              <a:srgbClr val="2A4D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6429572" y="5210215"/>
            <a:ext cx="4010025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4A90E2"/>
                </a:solidFill>
                <a:latin typeface="TT Ramillas"/>
                <a:ea typeface="TT Ramillas"/>
                <a:cs typeface="TT Ramillas"/>
                <a:sym typeface="TT Ramillas"/>
              </a:rPr>
              <a:t>Res</a:t>
            </a:r>
            <a:r>
              <a:rPr lang="en-US" sz="2999" spc="-59">
                <a:solidFill>
                  <a:srgbClr val="4A90E2"/>
                </a:solidFill>
                <a:latin typeface="TT Ramillas"/>
                <a:ea typeface="TT Ramillas"/>
                <a:cs typeface="TT Ramillas"/>
                <a:sym typeface="TT Ramillas"/>
              </a:rPr>
              <a:t>ults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9572" y="6054129"/>
            <a:ext cx="4000303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Match</a:t>
            </a: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ed vs. missing skills tagging; top-10 seeded</a:t>
            </a: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role</a:t>
            </a: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recommendations from seed_jobs.json</a:t>
            </a:r>
          </a:p>
        </p:txBody>
      </p:sp>
      <p:sp>
        <p:nvSpPr>
          <p:cNvPr name="AutoShape 10" id="10"/>
          <p:cNvSpPr/>
          <p:nvPr/>
        </p:nvSpPr>
        <p:spPr>
          <a:xfrm>
            <a:off x="6419850" y="5846484"/>
            <a:ext cx="4000303" cy="0"/>
          </a:xfrm>
          <a:prstGeom prst="line">
            <a:avLst/>
          </a:prstGeom>
          <a:ln cap="flat" w="19050">
            <a:solidFill>
              <a:srgbClr val="2A4D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182868" y="5210255"/>
            <a:ext cx="4010025" cy="38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</a:pPr>
            <a:r>
              <a:rPr lang="en-US" sz="2999" spc="-59">
                <a:solidFill>
                  <a:srgbClr val="4A90E2"/>
                </a:solidFill>
                <a:latin typeface="TT Ramillas"/>
                <a:ea typeface="TT Ramillas"/>
                <a:cs typeface="TT Ramillas"/>
                <a:sym typeface="TT Ramillas"/>
              </a:rPr>
              <a:t>Re</a:t>
            </a:r>
            <a:r>
              <a:rPr lang="en-US" sz="2999" spc="-59">
                <a:solidFill>
                  <a:srgbClr val="4A90E2"/>
                </a:solidFill>
                <a:latin typeface="TT Ramillas"/>
                <a:ea typeface="TT Ramillas"/>
                <a:cs typeface="TT Ramillas"/>
                <a:sym typeface="TT Ramillas"/>
              </a:rPr>
              <a:t>liability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82868" y="6054169"/>
            <a:ext cx="4000303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DB </a:t>
            </a: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error</a:t>
            </a: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</a:t>
            </a: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return 503</a:t>
            </a: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gracefu</a:t>
            </a: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lly; star</a:t>
            </a:r>
            <a:r>
              <a:rPr lang="en-US" sz="2100">
                <a:solidFill>
                  <a:srgbClr val="2A4D7A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tup job seeding is non-blocking if Mongo is unavailable.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2173147" y="5846524"/>
            <a:ext cx="4000303" cy="0"/>
          </a:xfrm>
          <a:prstGeom prst="line">
            <a:avLst/>
          </a:prstGeom>
          <a:ln cap="flat" w="19050">
            <a:solidFill>
              <a:srgbClr val="2A4D7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8324850" cy="259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2A4D7A"/>
                </a:solidFill>
                <a:latin typeface="TT Ramillas"/>
                <a:ea typeface="TT Ramillas"/>
                <a:cs typeface="TT Ramillas"/>
                <a:sym typeface="TT Ramillas"/>
              </a:rPr>
              <a:t>Demo Plan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5448300" cy="1594485"/>
            <a:chOff x="0" y="0"/>
            <a:chExt cx="7264400" cy="21259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4A90E2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Start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Initiate Mongo, FastAPI, and Streamlit services.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2A4D7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734675" y="3352800"/>
            <a:ext cx="5448300" cy="1223010"/>
            <a:chOff x="0" y="0"/>
            <a:chExt cx="7264400" cy="163068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4A90E2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Upload Resume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7611" y="1158875"/>
              <a:ext cx="7246789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Users can upload resume files for analysis.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2A4D7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734675" y="6038850"/>
            <a:ext cx="5448300" cy="1594485"/>
            <a:chOff x="0" y="0"/>
            <a:chExt cx="7264400" cy="21259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4A90E2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View Results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Analyze compatibility, skills differences, and recommendations.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2A4D7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6750" y="8724900"/>
            <a:ext cx="895350" cy="895350"/>
            <a:chOff x="0" y="0"/>
            <a:chExt cx="1193800" cy="1193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4248150"/>
            <a:ext cx="6886575" cy="1965960"/>
            <a:chOff x="0" y="0"/>
            <a:chExt cx="9182100" cy="26212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6675"/>
              <a:ext cx="91821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4A90E2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Upload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58875"/>
              <a:ext cx="91821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upload flow is designed for simplicity, allowing users to easily submit their resumes in various formats while receiving immediate feedback.</a:t>
              </a:r>
            </a:p>
          </p:txBody>
        </p:sp>
        <p:sp>
          <p:nvSpPr>
            <p:cNvPr name="AutoShape 5" id="5"/>
            <p:cNvSpPr/>
            <p:nvPr/>
          </p:nvSpPr>
          <p:spPr>
            <a:xfrm>
              <a:off x="22260" y="895350"/>
              <a:ext cx="9159840" cy="0"/>
            </a:xfrm>
            <a:prstGeom prst="line">
              <a:avLst/>
            </a:prstGeom>
            <a:ln cap="flat" w="25400">
              <a:solidFill>
                <a:srgbClr val="2A4D7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105025" y="6934200"/>
            <a:ext cx="6886575" cy="1965960"/>
            <a:chOff x="0" y="0"/>
            <a:chExt cx="9182100" cy="26212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6675"/>
              <a:ext cx="91821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4A90E2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Analysis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58875"/>
              <a:ext cx="91821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analysis metrics view provides users with essential insights, highlighting compatibility scores and skills differences against job descriptions.</a:t>
              </a:r>
            </a:p>
          </p:txBody>
        </p:sp>
        <p:sp>
          <p:nvSpPr>
            <p:cNvPr name="AutoShape 9" id="9"/>
            <p:cNvSpPr/>
            <p:nvPr/>
          </p:nvSpPr>
          <p:spPr>
            <a:xfrm>
              <a:off x="22260" y="895350"/>
              <a:ext cx="9159840" cy="0"/>
            </a:xfrm>
            <a:prstGeom prst="line">
              <a:avLst/>
            </a:prstGeom>
            <a:ln cap="flat" w="25400">
              <a:solidFill>
                <a:srgbClr val="2A4D7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734675" y="666750"/>
            <a:ext cx="6886575" cy="8953500"/>
            <a:chOff x="0" y="0"/>
            <a:chExt cx="1066911" cy="13871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6911" cy="1387131"/>
            </a:xfrm>
            <a:custGeom>
              <a:avLst/>
              <a:gdLst/>
              <a:ahLst/>
              <a:cxnLst/>
              <a:rect r="r" b="b" t="t" l="l"/>
              <a:pathLst>
                <a:path h="1387131" w="1066911">
                  <a:moveTo>
                    <a:pt x="0" y="0"/>
                  </a:moveTo>
                  <a:lnTo>
                    <a:pt x="1066911" y="0"/>
                  </a:lnTo>
                  <a:lnTo>
                    <a:pt x="1066911" y="1387131"/>
                  </a:lnTo>
                  <a:lnTo>
                    <a:pt x="0" y="1387131"/>
                  </a:lnTo>
                  <a:close/>
                </a:path>
              </a:pathLst>
            </a:custGeom>
            <a:blipFill>
              <a:blip r:embed="rId2"/>
              <a:stretch>
                <a:fillRect l="-11756" t="0" r="-11756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6750" y="4210050"/>
            <a:ext cx="1133475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spc="139" strike="noStrike" u="none">
                <a:solidFill>
                  <a:srgbClr val="4A90E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6896100"/>
            <a:ext cx="1133475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spc="139" strike="noStrike" u="none">
                <a:solidFill>
                  <a:srgbClr val="4A90E2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66750" y="666750"/>
            <a:ext cx="8324850" cy="2212340"/>
            <a:chOff x="0" y="0"/>
            <a:chExt cx="11099800" cy="294978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90500"/>
              <a:ext cx="11099800" cy="18372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  <a:spcBef>
                  <a:spcPct val="0"/>
                </a:spcBef>
              </a:pPr>
              <a:r>
                <a:rPr lang="en-US" sz="9999" spc="-199">
                  <a:solidFill>
                    <a:srgbClr val="2A4D7A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Results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349500"/>
              <a:ext cx="11099800" cy="600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  <a:r>
                <a:rPr lang="en-US" sz="2799" spc="139">
                  <a:solidFill>
                    <a:srgbClr val="4A90E2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INSIGHTS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8324850" cy="3863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2A4D7A"/>
                </a:solidFill>
                <a:latin typeface="TT Ramillas"/>
                <a:ea typeface="TT Ramillas"/>
                <a:cs typeface="TT Ramillas"/>
                <a:sym typeface="TT Ramillas"/>
              </a:rPr>
              <a:t>Limitations and Future Enhancements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666750"/>
            <a:ext cx="5448300" cy="2337435"/>
            <a:chOff x="0" y="0"/>
            <a:chExt cx="7264400" cy="31165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4A90E2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Current g</a:t>
              </a:r>
              <a:r>
                <a:rPr lang="en-US" sz="2999" spc="-59">
                  <a:solidFill>
                    <a:srgbClr val="4A90E2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aps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7611" y="1158875"/>
              <a:ext cx="7246789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Basic spaCy NER</a:t>
              </a:r>
              <a:r>
                <a:rPr lang="en-US" sz="2100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for names/emails; rule-based hard-skill list; no experience/recency/tenure weighting; no embeddings.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2A4D7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734675" y="3352800"/>
            <a:ext cx="5448300" cy="2337435"/>
            <a:chOff x="0" y="0"/>
            <a:chExt cx="7264400" cy="311658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4A90E2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Fut</a:t>
              </a:r>
              <a:r>
                <a:rPr lang="en-US" sz="2999" spc="-59">
                  <a:solidFill>
                    <a:srgbClr val="4A90E2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ure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7611" y="1158875"/>
              <a:ext cx="7246789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Richer s</a:t>
              </a:r>
              <a:r>
                <a:rPr lang="en-US" sz="2100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kill ontology + semantic embeddings for softer/implicit skills; add recency/tenure weighting in scoring; role-specific weight tuning.</a:t>
              </a:r>
            </a:p>
          </p:txBody>
        </p:sp>
        <p:sp>
          <p:nvSpPr>
            <p:cNvPr name="AutoShape 10" id="10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2A4D7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734675" y="6038850"/>
            <a:ext cx="5448300" cy="1594485"/>
            <a:chOff x="0" y="0"/>
            <a:chExt cx="7264400" cy="212598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6675"/>
              <a:ext cx="7264400" cy="530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</a:pPr>
              <a:r>
                <a:rPr lang="en-US" sz="2999" spc="-59">
                  <a:solidFill>
                    <a:srgbClr val="4A90E2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O</a:t>
              </a:r>
              <a:r>
                <a:rPr lang="en-US" sz="2999" spc="-59">
                  <a:solidFill>
                    <a:srgbClr val="4A90E2"/>
                  </a:solidFill>
                  <a:latin typeface="TT Ramillas"/>
                  <a:ea typeface="TT Ramillas"/>
                  <a:cs typeface="TT Ramillas"/>
                  <a:sym typeface="TT Ramillas"/>
                </a:rPr>
                <a:t>ps/admin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611" y="1158875"/>
              <a:ext cx="724678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2A4D7A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CRUD for jobs/skills to manage benchmarks without code changes.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cap="flat" w="25400">
              <a:solidFill>
                <a:srgbClr val="2A4D7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6750" y="8724900"/>
            <a:ext cx="895350" cy="895350"/>
            <a:chOff x="0" y="0"/>
            <a:chExt cx="1193800" cy="1193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193800" cy="119380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302457" y="301921"/>
              <a:ext cx="588886" cy="589958"/>
            </a:xfrm>
            <a:custGeom>
              <a:avLst/>
              <a:gdLst/>
              <a:ahLst/>
              <a:cxnLst/>
              <a:rect r="r" b="b" t="t" l="l"/>
              <a:pathLst>
                <a:path h="589958" w="588886">
                  <a:moveTo>
                    <a:pt x="0" y="0"/>
                  </a:moveTo>
                  <a:lnTo>
                    <a:pt x="588886" y="0"/>
                  </a:lnTo>
                  <a:lnTo>
                    <a:pt x="588886" y="589958"/>
                  </a:lnTo>
                  <a:lnTo>
                    <a:pt x="0" y="589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57250"/>
            <a:ext cx="8324850" cy="133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  <a:spcBef>
                <a:spcPct val="0"/>
              </a:spcBef>
            </a:pPr>
            <a:r>
              <a:rPr lang="en-US" sz="9999" spc="-199">
                <a:solidFill>
                  <a:srgbClr val="2A4D7A"/>
                </a:solidFill>
                <a:latin typeface="TT Ramillas"/>
                <a:ea typeface="TT Ramillas"/>
                <a:cs typeface="TT Ramillas"/>
                <a:sym typeface="TT Ramillas"/>
              </a:rPr>
              <a:t>Thank You!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Smart</dc:description>
  <dc:identifier>DAG64D4L1Fs</dc:identifier>
  <dcterms:modified xsi:type="dcterms:W3CDTF">2011-08-01T06:04:30Z</dcterms:modified>
  <cp:revision>1</cp:revision>
  <dc:title>swtools_final</dc:title>
</cp:coreProperties>
</file>